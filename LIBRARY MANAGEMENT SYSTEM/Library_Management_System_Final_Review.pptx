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6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8E3E1-FE84-41FE-8712-BC6191645B1B}" v="9" dt="2026-09-30T08:33:39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0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37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8443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8666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99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2518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4999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8629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8839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1566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626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560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529729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441787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092247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033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03650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98803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26288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8201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51347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0404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06922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64270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98201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6521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27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447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2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8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2321020" y="2632416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401465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B. Vyas Sri Nandan   (25B11AI130)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818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Ch. Karthikeyan   (25B11AI216)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2029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M. Ravi Teja   (25B11AI755)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5869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 A V Manikanta   (25B11AI589)</a:t>
            </a:r>
            <a:endParaRPr lang="en-US" sz="1450" dirty="0"/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00171EFC-C987-D567-FE47-13802636E7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850" y="363814"/>
            <a:ext cx="4610910" cy="628649"/>
          </a:xfrm>
          <a:prstGeom prst="rect">
            <a:avLst/>
          </a:prstGeom>
        </p:spPr>
      </p:pic>
      <p:sp>
        <p:nvSpPr>
          <p:cNvPr id="17" name="object 3">
            <a:extLst>
              <a:ext uri="{FF2B5EF4-FFF2-40B4-BE49-F238E27FC236}">
                <a16:creationId xmlns:a16="http://schemas.microsoft.com/office/drawing/2014/main" id="{25A4A11F-8A3E-47FC-8AFD-2399B8536DCD}"/>
              </a:ext>
            </a:extLst>
          </p:cNvPr>
          <p:cNvSpPr txBox="1">
            <a:spLocks noGrp="1"/>
          </p:cNvSpPr>
          <p:nvPr/>
        </p:nvSpPr>
        <p:spPr>
          <a:xfrm>
            <a:off x="2531785" y="1601543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ea typeface="+mj-ea"/>
                <a:cs typeface="Palatino Linotype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CA113827-EF54-D8BA-2041-E4DF4E8F7F21}"/>
              </a:ext>
            </a:extLst>
          </p:cNvPr>
          <p:cNvSpPr txBox="1">
            <a:spLocks/>
          </p:cNvSpPr>
          <p:nvPr/>
        </p:nvSpPr>
        <p:spPr>
          <a:xfrm>
            <a:off x="1807843" y="5769864"/>
            <a:ext cx="8751412" cy="11195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US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US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US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673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3741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41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5079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Schema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093208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074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5660136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5660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5641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Team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1691640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09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1673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 &amp; Constraints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2258568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0936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Insertion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2825496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0936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 &amp; DQL Operations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3392424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0936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12280" y="33741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&amp; SQL Queries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09360" y="3959352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0936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12280" y="3941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&amp; Validation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09360" y="4526280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093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12280" y="45079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09360" y="5093208"/>
            <a:ext cx="365760" cy="365760"/>
          </a:xfrm>
          <a:prstGeom prst="ellipse">
            <a:avLst/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0936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5074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&amp; Conclusion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52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Title, Objectives &amp; 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8041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Title:  LIBRARY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354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DBMS to automate book tracking, member registration, and issue/return transactions.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440680" cy="2653858"/>
          </a:xfrm>
          <a:prstGeom prst="roundRect">
            <a:avLst>
              <a:gd name="adj" fmla="val 2254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libraries rely on manual ledgers or decentralized spreadsheets to track books, members, and transactions.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search for book availability &amp; overdue tracking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&amp; inconsistency across records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 — fines, popular titles, usage reports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926080"/>
            <a:ext cx="5440680" cy="2653858"/>
          </a:xfrm>
          <a:prstGeom prst="roundRect">
            <a:avLst>
              <a:gd name="adj" fmla="val 2254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42900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core operations — issuing, returns, inventory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integrity with Primary &amp; Foreign Key constraints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fast search &amp; retrieval via optimized SQL queries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fine calculation based on due/return dates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secure, role-based access for members &amp; librarians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6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&amp; Attributes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09728" cy="1508760"/>
          </a:xfrm>
          <a:prstGeom prst="round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490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(PK), Title, Genre, Publication_Year,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Total_Copies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IN" sz="1100" dirty="0"/>
              <a:t> </a:t>
            </a:r>
            <a:r>
              <a:rPr lang="en-IN" sz="1100" dirty="0" err="1"/>
              <a:t>Available_Copies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Publisher_ID (FK)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109728" cy="1508760"/>
          </a:xfrm>
          <a:prstGeom prst="roundRect">
            <a:avLst/>
          </a:prstGeom>
          <a:solidFill>
            <a:srgbClr val="8E6B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18013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3490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(PK), First_Name, Last_Name, Nationality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09728" cy="1508760"/>
          </a:xfrm>
          <a:prstGeom prst="roundRect">
            <a:avLst/>
          </a:prstGeom>
          <a:solidFill>
            <a:srgbClr val="4E9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722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Publisher_ID (PK), Publisher_Name, Contact_Number, 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63640" y="3429000"/>
            <a:ext cx="109728" cy="1508760"/>
          </a:xfrm>
          <a:prstGeom prst="roundRect">
            <a:avLst/>
          </a:prstGeom>
          <a:solidFill>
            <a:srgbClr val="D6A4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37960" y="35387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0722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(PK), Full_Name, Email_Address, Membership_Date, Max_Books_Allowed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109728" cy="1508760"/>
          </a:xfrm>
          <a:prstGeom prst="roundRect">
            <a:avLst/>
          </a:prstGeom>
          <a:solidFill>
            <a:srgbClr val="4E9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52760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(LIBRARIAN)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8096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(PK), Name, Role, Shift_Timing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516636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63640" y="5166360"/>
            <a:ext cx="109728" cy="1508760"/>
          </a:xfrm>
          <a:prstGeom prst="roundRect">
            <a:avLst/>
          </a:prstGeom>
          <a:solidFill>
            <a:srgbClr val="C1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37960" y="52760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58096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(PK), Book_ID (FK), Member_ID (FK), Issue_Date, </a:t>
            </a:r>
            <a:r>
              <a:rPr lang="en-US" sz="11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IN" sz="1100" dirty="0"/>
              <a:t> </a:t>
            </a:r>
            <a:r>
              <a:rPr lang="en-IN" sz="1100" dirty="0" err="1"/>
              <a:t>Staff_ID</a:t>
            </a:r>
            <a:r>
              <a:rPr lang="en-IN" sz="1100" dirty="0"/>
              <a:t> (FK),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Return_Date, Fine_Amount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31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9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202DC2-A52C-69B1-7FE4-9DCDCD23D7C0}"/>
              </a:ext>
            </a:extLst>
          </p:cNvPr>
          <p:cNvSpPr txBox="1"/>
          <p:nvPr/>
        </p:nvSpPr>
        <p:spPr>
          <a:xfrm>
            <a:off x="2969394" y="860359"/>
            <a:ext cx="66077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ER – Diagram Library management system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BAD76F-BD2A-1251-4B11-B3FEE80C5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2" y="1497735"/>
            <a:ext cx="11157358" cy="5040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Schema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783080" cy="181965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4E9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4E9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Publisher_ID  PK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4048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Publisher_Name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7340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Contact_Number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30632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68296" y="1691640"/>
            <a:ext cx="1783080" cy="181965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8E6B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68296" y="16916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8E6B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68296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41448" y="20756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 PK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41448" y="24048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41448" y="27340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41448" y="30632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79392" y="1691640"/>
            <a:ext cx="1783080" cy="247802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79392" y="16916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79392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52544" y="20756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 PK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52544" y="24048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52544" y="27340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52544" y="30632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Publication_Year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52544" y="3392424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Total_Copies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52544" y="37216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Publisher_ID  FK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0488" y="1691640"/>
            <a:ext cx="1783080" cy="116128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9050">
            <a:solidFill>
              <a:srgbClr val="C77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90488" y="16916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C77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90488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BOOK_AUTHOR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20756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 PK, FK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4048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 PK, FK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01584" y="1691640"/>
            <a:ext cx="1783080" cy="21488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D6A4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101584" y="16916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D6A4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101584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174736" y="20756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 PK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74736" y="24048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74736" y="27340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Email_Address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74736" y="30632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Membership_Date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174736" y="3392424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Max_Books_Allowed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012680" y="1691640"/>
            <a:ext cx="1783080" cy="280720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C1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012680" y="16916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C1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01268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085832" y="207568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 PK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085832" y="24048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 FK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085832" y="273405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 FK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085832" y="30632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085832" y="3392424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085832" y="37216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085832" y="405079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Fine_Amount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5600"/>
            </a:avLst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31520" y="516636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BOOK_AUTHOR </a:t>
            </a: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junction table resolving the many-to-many relationship between BOOK and AUTHOR. </a:t>
            </a: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</a:t>
            </a: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MEMBER and BOOK, converting their conceptual M:N borrowing relationship into two 1:M relationships.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55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  <p:sp>
        <p:nvSpPr>
          <p:cNvPr id="62" name="Shape 26">
            <a:extLst>
              <a:ext uri="{FF2B5EF4-FFF2-40B4-BE49-F238E27FC236}">
                <a16:creationId xmlns:a16="http://schemas.microsoft.com/office/drawing/2014/main" id="{512F889C-6252-5089-6200-177D90BADF51}"/>
              </a:ext>
            </a:extLst>
          </p:cNvPr>
          <p:cNvSpPr/>
          <p:nvPr/>
        </p:nvSpPr>
        <p:spPr>
          <a:xfrm>
            <a:off x="6190488" y="2971800"/>
            <a:ext cx="1783080" cy="1530958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9050">
            <a:solidFill>
              <a:srgbClr val="C77DB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7751D785-4280-59B0-7C0F-099D5F445D1E}"/>
              </a:ext>
            </a:extLst>
          </p:cNvPr>
          <p:cNvSpPr/>
          <p:nvPr/>
        </p:nvSpPr>
        <p:spPr>
          <a:xfrm>
            <a:off x="6190488" y="2971800"/>
            <a:ext cx="1783080" cy="365760"/>
          </a:xfrm>
          <a:prstGeom prst="roundRect">
            <a:avLst>
              <a:gd name="adj" fmla="val 12500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Staff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634211-56FB-0C44-0564-6941E7C9499A}"/>
              </a:ext>
            </a:extLst>
          </p:cNvPr>
          <p:cNvSpPr txBox="1"/>
          <p:nvPr/>
        </p:nvSpPr>
        <p:spPr>
          <a:xfrm>
            <a:off x="6190488" y="3387068"/>
            <a:ext cx="1317217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50" dirty="0" err="1"/>
              <a:t>Staff_ID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/>
              <a:t>Name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/>
              <a:t>Role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 err="1"/>
              <a:t>Shift_Timing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Foreign Keys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023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Publisher_ID → PUBLISHER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BOOK_AUTHOR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(Book_ID, Author_ID)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→ BOOK,  Author_ID → AUTHOR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→ BOOK,  Member_ID →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9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&amp; Team Responsibilities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40180" y="2788920"/>
            <a:ext cx="731520" cy="73152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44018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Vyas Sri Nandan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25B11AI130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315968"/>
            <a:ext cx="1965960" cy="0"/>
          </a:xfrm>
          <a:prstGeom prst="line">
            <a:avLst/>
          </a:prstGeom>
          <a:noFill/>
          <a:ln w="190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4407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ER Modeling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attributes, ER diagram, relational 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74820" y="2788920"/>
            <a:ext cx="731520" cy="73152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748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Karthikeyan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25B11AI216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4315968"/>
            <a:ext cx="1965960" cy="0"/>
          </a:xfrm>
          <a:prstGeom prst="line">
            <a:avLst/>
          </a:prstGeom>
          <a:noFill/>
          <a:ln w="190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29000" y="4407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scripts, constraints, table creation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5603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09460" y="2788920"/>
            <a:ext cx="731520" cy="73152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10946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Ravi Teja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25B11AI755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4315968"/>
            <a:ext cx="1965960" cy="0"/>
          </a:xfrm>
          <a:prstGeom prst="line">
            <a:avLst/>
          </a:prstGeom>
          <a:noFill/>
          <a:ln w="190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63640" y="4407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Query Development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data, DML/DQL, CRUD &amp; joins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61120" y="256032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944100" y="2788920"/>
            <a:ext cx="731520" cy="73152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94410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2560" y="3611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 V Manikanta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05256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25B11AI589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26880" y="4315968"/>
            <a:ext cx="1965960" cy="0"/>
          </a:xfrm>
          <a:prstGeom prst="line">
            <a:avLst/>
          </a:prstGeom>
          <a:noFill/>
          <a:ln w="1905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098280" y="4407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integrity checks, final report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41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Creation &amp; Constraints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949440" cy="4572000"/>
          </a:xfrm>
          <a:prstGeom prst="roundRect">
            <a:avLst>
              <a:gd name="adj" fmla="val 1400"/>
            </a:avLst>
          </a:prstGeom>
          <a:solidFill>
            <a:srgbClr val="1E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65379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library_db;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PUBLISHER (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Publisher_ID   INT PRIMARY KEY,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Publisher_Name VARCHAR(100) NOT NULL,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Contact_Number VARCHAR(15)  UNIQUE,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          VARCHAR(50)  DEFAULT 'Unknown'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 (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Book_ID           INT PRIMARY KEY,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         VARCHAR(150) NOT NULL,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Genre             VARCHAR(50),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Publication_Year  INT CHECK (Publication_Year &gt; 1500),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Total_Copies      INT DEFAULT 1 CHECK (Total_Copies &gt;= 0),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Publisher_ID      INT,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(Publisher_ID) REFERENCES PUBLISHER(Publisher_ID)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TRANSACTION (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Transaction_ID INT PRIMARY KEY,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Book_ID        INT NOT NULL,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Member_ID      INT NOT NULL,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Issue_Date     DATE NOT NULL,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Due_Date       DATE NOT NULL,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Return_Date    DATE,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Fine_Amount    DECIMAL(6,2) DEFAULT 0.00,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(Book_ID) REFERENCES BOOK(Book_ID),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(Member_ID) REFERENCES MEMBER(Member_ID)</a:t>
            </a:r>
            <a:endParaRPr lang="en-US" sz="87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7543800" y="1645920"/>
            <a:ext cx="4160520" cy="457200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2240280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0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098280" y="218541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 (Book_ID, Member_ID, Transaction_ID, ...)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0" y="2898648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0" y="2898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098280" y="28437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referential integrity between related tables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0" y="3557016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0" y="35570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098280" y="35021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missing values in mandatory fields (Title, Name, Issue_Date)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4215384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0" y="42153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9828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publisher contact numbers / member emails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4873752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0" y="48737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98280" y="48188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Publication_Year and non-negative copy counts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5532120"/>
            <a:ext cx="1234440" cy="320040"/>
          </a:xfrm>
          <a:prstGeom prst="roundRect">
            <a:avLst>
              <a:gd name="adj" fmla="val 48571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098280" y="54772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Total_Copies = 1 and Fine_Amount = 0.00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29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Insertion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4572000"/>
          </a:xfrm>
          <a:prstGeom prst="roundRect">
            <a:avLst>
              <a:gd name="adj" fmla="val 1400"/>
            </a:avLst>
          </a:prstGeom>
          <a:solidFill>
            <a:srgbClr val="1E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074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PUBLISHER VALUES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(1, 'Penguin House', '9876543210', 'Delhi'),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(2, 'Oxford Press', '9123456780', 'Mumbai');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 VALUES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(1, 'R.K.', 'Narayan', 'Indian'),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(2, 'J.K.', 'Rowling', 'British');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 VALUES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(101, 'Malgudi Days', 'Fiction', 1943, 4, 1),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(102, "Harry Potter", 'Fantasy', 1997, 6, 2);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MEMBER VALUES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(201, 'Aditi Sharma', 'aditi@mail.com',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'2024-06-01', 3),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(202, 'Rahul Verma', 'rahul@mail.com',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'2024-07-15', 3);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TRANSACTION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(Transaction_ID, Book_ID, Member_ID,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Issue_Date, Due_Date)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(301, 101, 201, '2025-01-05', '2025-01-19');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532120" cy="4572000"/>
          </a:xfrm>
          <a:prstGeom prst="roundRect">
            <a:avLst>
              <a:gd name="adj" fmla="val 1400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(sample rows)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48840"/>
          <a:ext cx="5074920" cy="1097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Max_Books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 Sharma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aditi@mail.com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Verma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rahul@mail.com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(sample rows)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931920"/>
          <a:ext cx="5074920" cy="7315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19-Jan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489204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FCE4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583680" y="49834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was inserted for all 6 tables — enough rows per table to demonstrate joins, aggregate functions, and fine-calculation logic end-to-end.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22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DDL, DML &amp; DQL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73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611880" cy="3611880"/>
          </a:xfrm>
          <a:prstGeom prst="roundRect">
            <a:avLst>
              <a:gd name="adj" fmla="val 1772"/>
            </a:avLst>
          </a:prstGeom>
          <a:solidFill>
            <a:srgbClr val="1E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724912"/>
            <a:ext cx="32826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BOOK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COLUMN Language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VARCHAR(30);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IF EXISTS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temp_backup;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64592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D6A4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34840" y="1673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084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2560320"/>
            <a:ext cx="3611880" cy="3611880"/>
          </a:xfrm>
          <a:prstGeom prst="roundRect">
            <a:avLst>
              <a:gd name="adj" fmla="val 1772"/>
            </a:avLst>
          </a:prstGeom>
          <a:solidFill>
            <a:srgbClr val="1E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16552" y="2724912"/>
            <a:ext cx="32826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TRANSACTION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Return_Date='2025-01-18'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Transaction_ID=301;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MEMBER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Member_ID=999;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4E9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0" y="1673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2084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2560320"/>
            <a:ext cx="3611880" cy="3611880"/>
          </a:xfrm>
          <a:prstGeom prst="roundRect">
            <a:avLst>
              <a:gd name="adj" fmla="val 1772"/>
            </a:avLst>
          </a:prstGeom>
          <a:solidFill>
            <a:srgbClr val="1E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11312" y="2724912"/>
            <a:ext cx="32826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Title, Genre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BOOK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Total_Copies &gt; 3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Publication_Year;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22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 &amp; SQL Queries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858000" cy="4572000"/>
          </a:xfrm>
          <a:prstGeom prst="roundRect">
            <a:avLst>
              <a:gd name="adj" fmla="val 1400"/>
            </a:avLst>
          </a:prstGeom>
          <a:solidFill>
            <a:srgbClr val="1E1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6446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JOIN: books with author &amp; publisher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B.Title, A.First_Name, P.Publisher_Name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BOOK B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BOOK_AUTHOR BA ON B.Book_ID = BA.Book_ID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AUTHOR A ON BA.Author_ID = A.Author_ID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PUBLISHER P ON B.Publisher_ID = P.Publisher_ID;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AGGREGATE: total fines per member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M.Full_Name, SUM(T.Fine_Amount) AS Total_Fine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 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MEMBER M ON T.Member_ID = M.Member_ID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M.Full_Name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SUM(T.Fine_Amount) &gt; 0;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VIEW: currently issued (not yet returned) books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Currently_Issued AS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T.Transaction_ID, B.Title, M.Full_Name, T.Due_Date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 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 B ON T.Book_ID = B.Book_ID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MEMBER M ON T.Member_ID = M.Member_ID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T.Return_Date IS NULL;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498080" y="1645920"/>
            <a:ext cx="4206240" cy="4572000"/>
          </a:xfrm>
          <a:prstGeom prst="roundRect">
            <a:avLst>
              <a:gd name="adj" fmla="val 1522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266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MAPPING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26680" y="22860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266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2668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...  (new book, member, transaction)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26680" y="3246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266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 (search catalog, check availability)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42062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2668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...  (mark return, apply fine)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26680" y="5166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26680" y="5166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5577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...  (remove withdrawn member)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23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Validation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47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constraints on every table block duplicate Book_ID, Member_ID, Transaction_ID, etc.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457200" cy="457200"/>
          </a:xfrm>
          <a:prstGeom prst="ellipse">
            <a:avLst/>
          </a:prstGeom>
          <a:solidFill>
            <a:srgbClr val="8E6B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947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References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5146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 ensure a transaction can never point to a non-existent Book or Member.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4E9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0" y="19476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reject invalid Publication_Year values and negative copy counts.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D6A4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279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Fields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846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constraints guarantee every book has a title and every transaction has an issue date.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40233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80560" y="4251960"/>
            <a:ext cx="457200" cy="457200"/>
          </a:xfrm>
          <a:prstGeom prst="ellipse">
            <a:avLst/>
          </a:prstGeom>
          <a:solidFill>
            <a:srgbClr val="C15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805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4920" y="4279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Contacts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4846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 prevent two publishers or members from sharing the same contact/email.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75320" y="4251960"/>
            <a:ext cx="457200" cy="457200"/>
          </a:xfrm>
          <a:prstGeom prst="ellipse">
            <a:avLst/>
          </a:prstGeom>
          <a:solidFill>
            <a:srgbClr val="C77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75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69680" y="4279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Defaults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4846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(Total_Copies=1, Fine_Amount=0.00) keep new records well-formed automatically.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37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Documentation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86537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85623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&amp; scope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28232" y="186537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28232" y="185623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7373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with entities, attributes &amp; relationships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" y="264261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" y="263347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PK / FK mapping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51460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28232" y="264261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28232" y="263347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5146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DDL scripts (tables + constraints)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1792" y="341985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1792" y="34107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2918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&amp; DML/DQL query scripts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29184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28232" y="341985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28232" y="34107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32918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operations, joins, views &amp; aggregate queries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1792" y="419709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" y="41879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0690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query outputs &amp; test results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4069080"/>
            <a:ext cx="5440680" cy="594360"/>
          </a:xfrm>
          <a:prstGeom prst="roundRect">
            <a:avLst>
              <a:gd name="adj" fmla="val 12308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28232" y="4197096"/>
            <a:ext cx="338328" cy="338328"/>
          </a:xfrm>
          <a:prstGeom prst="roundRect">
            <a:avLst>
              <a:gd name="adj" fmla="val 16216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28232" y="41879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0690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with version history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39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872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9872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of the Working Database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" y="1618570"/>
            <a:ext cx="2084832" cy="2821806"/>
          </a:xfrm>
          <a:prstGeom prst="roundRect">
            <a:avLst>
              <a:gd name="adj" fmla="val 3509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79576" y="2057400"/>
            <a:ext cx="640080" cy="64008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7957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719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DDL scripts to create the library_db database and all six tables with constraints.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23744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06624" y="1618570"/>
            <a:ext cx="2084832" cy="2821806"/>
          </a:xfrm>
          <a:prstGeom prst="roundRect">
            <a:avLst>
              <a:gd name="adj" fmla="val 3509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92424" y="2057400"/>
            <a:ext cx="640080" cy="64008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9242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07208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52928" y="3383280"/>
            <a:ext cx="1719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tables with sample publishers, authors, books, members, and transactions.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6592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19472" y="1618570"/>
            <a:ext cx="2084832" cy="2821806"/>
          </a:xfrm>
          <a:prstGeom prst="roundRect">
            <a:avLst>
              <a:gd name="adj" fmla="val 3509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605272" y="2057400"/>
            <a:ext cx="640080" cy="64008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0527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0056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Book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65776" y="3383280"/>
            <a:ext cx="1719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TRANSACTION row and show Total_Copies / availability update live.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32320" y="1618570"/>
            <a:ext cx="2084832" cy="2821806"/>
          </a:xfrm>
          <a:prstGeom prst="roundRect">
            <a:avLst>
              <a:gd name="adj" fmla="val 3509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818120" y="2057400"/>
            <a:ext cx="640080" cy="64008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8181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32904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Fine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78624" y="3383280"/>
            <a:ext cx="1719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Return_Date; run the fine-calculation query for overdue returns.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62288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45168" y="1618570"/>
            <a:ext cx="2084832" cy="2821806"/>
          </a:xfrm>
          <a:prstGeom prst="roundRect">
            <a:avLst>
              <a:gd name="adj" fmla="val 3509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030968" y="2057400"/>
            <a:ext cx="640080" cy="640080"/>
          </a:xfrm>
          <a:prstGeom prst="ellipse">
            <a:avLst/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03096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445752" y="28346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91472" y="3383280"/>
            <a:ext cx="1719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joins, GROUP BY, and the Currently_Issued view to show live reports.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36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181600" y="5486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181600" y="548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to a Working Library Database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normalized 6-entity relational schema (Publisher, Author, Book, Book_Author, Member, Transaction) grounded in a clear ER model.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schema in SQL with Primary/Foreign Key, NOT NULL, UNIQUE, CHECK, and DEFAULT constraints to guarantee data integrity.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Built working DDL, DML, and DQL scripts, plus CRUD operations, joins, aggregate queries, and a view for daily library operations.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the system against duplicate-ID and referential-integrity risks, converting a manual, error-prone ledger into a reliable digital platform.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3C4F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983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 front-end integration  •  Automated overdue-reminder notifications  •  Role-based login for members &amp; librarians  •  Analytics dashboard for usage trends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3" name="Aditya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" y="82296"/>
            <a:ext cx="2324000" cy="806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175504" y="3657600"/>
            <a:ext cx="1828800" cy="0"/>
          </a:xfrm>
          <a:prstGeom prst="line">
            <a:avLst/>
          </a:prstGeom>
          <a:noFill/>
          <a:ln w="38100">
            <a:solidFill>
              <a:srgbClr val="E863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2073</Words>
  <Application>Microsoft Office PowerPoint</Application>
  <PresentationFormat>Widescreen</PresentationFormat>
  <Paragraphs>417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Neue Haas Grotesk Text Pro</vt:lpstr>
      <vt:lpstr>System Font Regular</vt:lpstr>
      <vt:lpstr>Times New Roman</vt:lpstr>
      <vt:lpstr>Office Theme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25B11AI130</cp:lastModifiedBy>
  <cp:revision>8</cp:revision>
  <dcterms:created xsi:type="dcterms:W3CDTF">2026-09-13T17:14:17Z</dcterms:created>
  <dcterms:modified xsi:type="dcterms:W3CDTF">2026-09-30T08:40:59Z</dcterms:modified>
</cp:coreProperties>
</file>